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2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C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BF-4B37-A34F-D360D263A901}"/>
              </c:ext>
            </c:extLst>
          </c:dPt>
          <c:dPt>
            <c:idx val="1"/>
            <c:bubble3D val="0"/>
            <c:spPr>
              <a:solidFill>
                <a:srgbClr val="00D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BF-4B37-A34F-D360D263A90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BF-4B37-A34F-D360D263A90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BF-4B37-A34F-D360D263A90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Triaging noise</c:v>
                </c:pt>
                <c:pt idx="1">
                  <c:v>Acting on threats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BF-4B37-A34F-D360D263A9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E7EEF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Existing</c:v>
                </c:pt>
                <c:pt idx="1">
                  <c:v>New (Bob)</c:v>
                </c:pt>
                <c:pt idx="2">
                  <c:v>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215</c:v>
                </c:pt>
                <c:pt idx="1">
                  <c:v>48</c:v>
                </c:pt>
                <c:pt idx="2">
                  <c:v>263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06-4B52-B25D-EB95F2D97C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7EE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13294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294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11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2240280"/>
            <a:ext cx="5669280" cy="5669280"/>
          </a:xfrm>
          <a:prstGeom prst="ellipse">
            <a:avLst/>
          </a:prstGeom>
          <a:ln w="1397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834640"/>
            <a:ext cx="4480560" cy="4480560"/>
          </a:xfrm>
          <a:prstGeom prst="ellipse">
            <a:avLst/>
          </a:prstGeom>
          <a:ln w="13970">
            <a:solidFill>
              <a:srgbClr val="00D4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3429000"/>
            <a:ext cx="3291840" cy="3291840"/>
          </a:xfrm>
          <a:prstGeom prst="ellipse">
            <a:avLst/>
          </a:prstGeom>
          <a:ln w="1397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4023360"/>
            <a:ext cx="2103120" cy="2103120"/>
          </a:xfrm>
          <a:prstGeom prst="ellipse">
            <a:avLst/>
          </a:prstGeom>
          <a:ln w="13970">
            <a:solidFill>
              <a:srgbClr val="00D4FF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21240" y="4617720"/>
            <a:ext cx="914400" cy="914400"/>
          </a:xfrm>
          <a:prstGeom prst="ellipse">
            <a:avLst/>
          </a:prstGeom>
          <a:ln w="1397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96144" y="4992624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>
            <a:off x="10378440" y="2240280"/>
            <a:ext cx="0" cy="2834640"/>
          </a:xfrm>
          <a:prstGeom prst="line">
            <a:avLst/>
          </a:prstGeom>
          <a:noFill/>
          <a:ln w="19050">
            <a:solidFill>
              <a:srgbClr val="00D4FF">
                <a:alpha val="6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HACKATHON  •  NATIONAL DEFENCE SOC EDITION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6916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THREATICAP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803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Correlation &amp; Alert Prioritisation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8368" y="3520440"/>
            <a:ext cx="118872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 noise to command decision — in seconds.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47777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Maverick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Analysts are drowning in alerts, not threats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76200" dist="25400" dir="5400000" algn="bl" rotWithShape="0">
              <a:srgbClr val="1C3A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1C3A5E"/>
          </a:solidFill>
          <a:ln/>
        </p:spPr>
      </p:sp>
      <p:pic>
        <p:nvPicPr>
          <p:cNvPr id="6" name="Image 0" descr="/home/claude/threaticap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7190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56362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85623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SOC analysts, military cyber commanders, and watch officers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76200" dist="25400" dir="5400000" algn="bl" rotWithShape="0">
              <a:srgbClr val="1C3A5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618488"/>
            <a:ext cx="457200" cy="457200"/>
          </a:xfrm>
          <a:prstGeom prst="ellipse">
            <a:avLst/>
          </a:prstGeom>
          <a:solidFill>
            <a:srgbClr val="1C3A5E"/>
          </a:solidFill>
          <a:ln/>
        </p:spPr>
      </p:sp>
      <p:pic>
        <p:nvPicPr>
          <p:cNvPr id="11" name="Image 1" descr="/home/claude/threaticap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7190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56362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185623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raw alerts flood in daily from SIEMs, EDR, satellite ISR, HUMINT, and STIX feeds — across multiple classification domains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HURTS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300984"/>
            <a:ext cx="109728" cy="109728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04672" y="319125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high-severity alert on a live C2 asset looks identical to one on an unused workstation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867912"/>
            <a:ext cx="109728" cy="109728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04672" y="375818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knows which mission is running right now — every threat is treated the same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4434840"/>
            <a:ext cx="109728" cy="109728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04672" y="432511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intelligence gets scored as confidently as fresh intelligence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5001768"/>
            <a:ext cx="109728" cy="109728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04672" y="48920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Coalition sharing is manual, error-prone, and risks classification violations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269480" y="2880360"/>
            <a:ext cx="4343400" cy="2788920"/>
          </a:xfrm>
          <a:prstGeom prst="roundRect">
            <a:avLst>
              <a:gd name="adj" fmla="val 2623"/>
            </a:avLst>
          </a:prstGeom>
          <a:solidFill>
            <a:srgbClr val="0B1E33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543800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BUDGET</a:t>
            </a:r>
            <a:endParaRPr lang="en-US" sz="11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7452360" y="3364992"/>
          <a:ext cx="39776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Text 21"/>
          <p:cNvSpPr txBox="1"/>
          <p:nvPr/>
        </p:nvSpPr>
        <p:spPr>
          <a:xfrm>
            <a:off x="7452360" y="51663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of analyst time is spent triaging, not acting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B1E33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cost:  </a:t>
            </a: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response.  Missed threats.  Mission degradation.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THREATICAP v3 — built for the defence SOC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Python platform that turns multi-source alert floods into ranked, explainable, commander-ready decisions.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94610" cy="2125980"/>
          </a:xfrm>
          <a:prstGeom prst="roundRect">
            <a:avLst>
              <a:gd name="adj" fmla="val 3441"/>
            </a:avLst>
          </a:prstGeom>
          <a:solidFill>
            <a:srgbClr val="13294B"/>
          </a:solidFill>
          <a:ln w="12700">
            <a:solidFill>
              <a:srgbClr val="234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2996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7" name="Image 0" descr="/home/claude/threaticap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139696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60604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Ingests from any source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090672"/>
            <a:ext cx="22288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EDR, STIX/TAXII, MISP, Satellite/ISR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1850" y="1828800"/>
            <a:ext cx="2594610" cy="2125980"/>
          </a:xfrm>
          <a:prstGeom prst="roundRect">
            <a:avLst>
              <a:gd name="adj" fmla="val 3441"/>
            </a:avLst>
          </a:prstGeom>
          <a:solidFill>
            <a:srgbClr val="13294B"/>
          </a:solidFill>
          <a:ln w="12700">
            <a:solidFill>
              <a:srgbClr val="2346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3018" y="202996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12" name="Image 1" descr="/home/claude/threaticap/icons/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746" y="21396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54730" y="260604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Correlates related alerts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554730" y="3090672"/>
            <a:ext cx="22288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matching, temporal, asset, behavioural, graph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95060" y="1828800"/>
            <a:ext cx="2594610" cy="2125980"/>
          </a:xfrm>
          <a:prstGeom prst="roundRect">
            <a:avLst>
              <a:gd name="adj" fmla="val 3441"/>
            </a:avLst>
          </a:prstGeom>
          <a:solidFill>
            <a:srgbClr val="13294B"/>
          </a:solidFill>
          <a:ln w="12700">
            <a:solidFill>
              <a:srgbClr val="23467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96228" y="202996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17" name="Image 2" descr="/home/claude/threaticap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213969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77940" y="260604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to MITRE ATT&amp;CK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377940" y="3090672"/>
            <a:ext cx="22288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→ Tactic → Kill Chain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18270" y="1828800"/>
            <a:ext cx="2594610" cy="2125980"/>
          </a:xfrm>
          <a:prstGeom prst="roundRect">
            <a:avLst>
              <a:gd name="adj" fmla="val 3441"/>
            </a:avLst>
          </a:prstGeom>
          <a:solidFill>
            <a:srgbClr val="13294B"/>
          </a:solidFill>
          <a:ln w="12700">
            <a:solidFill>
              <a:srgbClr val="23467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19438" y="202996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22" name="Image 3" descr="/home/claude/threaticap/icons/git-mer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9166" y="213969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01150" y="260604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Reconstructs attack campaigns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9201150" y="3090672"/>
            <a:ext cx="22288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Kill Chain, 14-phase progression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183380"/>
            <a:ext cx="2594610" cy="2125980"/>
          </a:xfrm>
          <a:prstGeom prst="roundRect">
            <a:avLst>
              <a:gd name="adj" fmla="val 3441"/>
            </a:avLst>
          </a:prstGeom>
          <a:solidFill>
            <a:srgbClr val="13294B"/>
          </a:solidFill>
          <a:ln w="12700">
            <a:solidFill>
              <a:srgbClr val="23467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9808" y="438454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27" name="Image 4" descr="/home/claude/threaticap/icons/activ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49427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31520" y="496062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by mission impact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731520" y="5445252"/>
            <a:ext cx="22288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mission context amplifies critical assets up to 3×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71850" y="4183380"/>
            <a:ext cx="2594610" cy="2125980"/>
          </a:xfrm>
          <a:prstGeom prst="roundRect">
            <a:avLst>
              <a:gd name="adj" fmla="val 3441"/>
            </a:avLst>
          </a:prstGeom>
          <a:solidFill>
            <a:srgbClr val="13294B"/>
          </a:solidFill>
          <a:ln w="12700">
            <a:solidFill>
              <a:srgbClr val="23467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573018" y="438454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32" name="Image 5" descr="/home/claude/threaticap/icons/message-squa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2746" y="4494276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554730" y="496062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Generates role-specific BLUFs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3554730" y="5445252"/>
            <a:ext cx="22288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 / Watch Officer / Analyst / Intel / Coalition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195060" y="4183380"/>
            <a:ext cx="2594610" cy="2125980"/>
          </a:xfrm>
          <a:prstGeom prst="roundRect">
            <a:avLst>
              <a:gd name="adj" fmla="val 3441"/>
            </a:avLst>
          </a:prstGeom>
          <a:solidFill>
            <a:srgbClr val="13294B"/>
          </a:solidFill>
          <a:ln w="12700">
            <a:solidFill>
              <a:srgbClr val="23467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396228" y="438454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37" name="Image 6" descr="/home/claude/threaticap/icons/trending-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956" y="4494276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377940" y="496062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from analyst feedback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6377940" y="5445252"/>
            <a:ext cx="22288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false-positive reduction via EMA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9018270" y="4183380"/>
            <a:ext cx="2594610" cy="2125980"/>
          </a:xfrm>
          <a:prstGeom prst="roundRect">
            <a:avLst>
              <a:gd name="adj" fmla="val 3441"/>
            </a:avLst>
          </a:prstGeom>
          <a:solidFill>
            <a:srgbClr val="13294B"/>
          </a:solidFill>
          <a:ln w="12700">
            <a:solidFill>
              <a:srgbClr val="23467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219438" y="4384548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42" name="Image 7" descr="/home/claude/threaticap/icons/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9166" y="4494276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201150" y="496062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Manages intel quality</a:t>
            </a:r>
            <a:endParaRPr lang="en-US" sz="1300" dirty="0"/>
          </a:p>
        </p:txBody>
      </p:sp>
      <p:sp>
        <p:nvSpPr>
          <p:cNvPr id="44" name="Text 34"/>
          <p:cNvSpPr txBox="1"/>
          <p:nvPr/>
        </p:nvSpPr>
        <p:spPr>
          <a:xfrm>
            <a:off x="9201150" y="5445252"/>
            <a:ext cx="222885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Admiralty Scale, radioactive confidence decay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pipeline: from raw alert to commander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475488"/>
          </a:xfrm>
          <a:prstGeom prst="roundRect">
            <a:avLst>
              <a:gd name="adj" fmla="val 13462"/>
            </a:avLst>
          </a:prstGeom>
          <a:solidFill>
            <a:srgbClr val="1C3A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Alerts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63240" y="1892808"/>
            <a:ext cx="0" cy="64008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56816"/>
            <a:ext cx="5029200" cy="475488"/>
          </a:xfrm>
          <a:prstGeom prst="roundRect">
            <a:avLst>
              <a:gd name="adj" fmla="val 13462"/>
            </a:avLst>
          </a:prstGeom>
          <a:solidFill>
            <a:srgbClr val="0B1E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5681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Quality Filter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938528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Quality Manager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(decay, reliability)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201168" cy="0"/>
          </a:xfrm>
          <a:prstGeom prst="line">
            <a:avLst/>
          </a:prstGeom>
          <a:noFill/>
          <a:ln w="15875">
            <a:solidFill>
              <a:srgbClr val="5FD3E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063240" y="2432304"/>
            <a:ext cx="0" cy="64008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96312"/>
            <a:ext cx="5029200" cy="475488"/>
          </a:xfrm>
          <a:prstGeom prst="roundRect">
            <a:avLst>
              <a:gd name="adj" fmla="val 13462"/>
            </a:avLst>
          </a:prstGeom>
          <a:solidFill>
            <a:srgbClr val="0B1E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49631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478024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+ Temporal +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+ Behaviour + Graph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2734056"/>
            <a:ext cx="201168" cy="0"/>
          </a:xfrm>
          <a:prstGeom prst="line">
            <a:avLst/>
          </a:prstGeom>
          <a:noFill/>
          <a:ln w="15875">
            <a:solidFill>
              <a:srgbClr val="5FD3E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063240" y="2971800"/>
            <a:ext cx="0" cy="64008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35808"/>
            <a:ext cx="5029200" cy="475488"/>
          </a:xfrm>
          <a:prstGeom prst="roundRect">
            <a:avLst>
              <a:gd name="adj" fmla="val 13462"/>
            </a:avLst>
          </a:prstGeom>
          <a:solidFill>
            <a:srgbClr val="0B1E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03580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063240" y="3511296"/>
            <a:ext cx="0" cy="64008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75304"/>
            <a:ext cx="5029200" cy="475488"/>
          </a:xfrm>
          <a:prstGeom prst="roundRect">
            <a:avLst>
              <a:gd name="adj" fmla="val 13462"/>
            </a:avLst>
          </a:prstGeom>
          <a:solidFill>
            <a:srgbClr val="0B1E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5753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Reconstructor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063240" y="4050792"/>
            <a:ext cx="0" cy="64008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114800"/>
            <a:ext cx="5029200" cy="475488"/>
          </a:xfrm>
          <a:prstGeom prst="roundRect">
            <a:avLst>
              <a:gd name="adj" fmla="val 13462"/>
            </a:avLst>
          </a:prstGeom>
          <a:solidFill>
            <a:srgbClr val="0B1E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1148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 Engine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096512"/>
            <a:ext cx="3017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Context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(hot-reload)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4352544"/>
            <a:ext cx="201168" cy="0"/>
          </a:xfrm>
          <a:prstGeom prst="line">
            <a:avLst/>
          </a:prstGeom>
          <a:noFill/>
          <a:ln w="15875">
            <a:solidFill>
              <a:srgbClr val="5FD3E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063240" y="4590288"/>
            <a:ext cx="0" cy="64008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654296"/>
            <a:ext cx="5029200" cy="475488"/>
          </a:xfrm>
          <a:prstGeom prst="roundRect">
            <a:avLst>
              <a:gd name="adj" fmla="val 13462"/>
            </a:avLst>
          </a:prstGeom>
          <a:solidFill>
            <a:srgbClr val="0B1E3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6542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 Generator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063240" y="5129784"/>
            <a:ext cx="0" cy="64008"/>
          </a:xfrm>
          <a:prstGeom prst="line">
            <a:avLst/>
          </a:prstGeom>
          <a:noFill/>
          <a:ln w="19050">
            <a:solidFill>
              <a:srgbClr val="1C3A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193792"/>
            <a:ext cx="5029200" cy="475488"/>
          </a:xfrm>
          <a:prstGeom prst="roundRect">
            <a:avLst>
              <a:gd name="adj" fmla="val 13462"/>
            </a:avLst>
          </a:prstGeom>
          <a:solidFill>
            <a:srgbClr val="1C3A5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519379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Storage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HIGHLIGHTS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732520" y="1691640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32520" y="1691640"/>
            <a:ext cx="54864" cy="8412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897112" y="17465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multiplier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897112" y="19933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asset criticality in real time; hot-reloadable, no pipeline restart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32520" y="2606040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32520" y="2606040"/>
            <a:ext cx="54864" cy="8412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897112" y="26609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reconstruction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897112" y="29077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ATT&amp;CK IDs to 14 kill-chain phases; detects APT patterns; plain-English narrative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732520" y="3520440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3520440"/>
            <a:ext cx="54864" cy="8412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897112" y="35753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 learning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897112" y="38221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Per-rule / per-source EMA blended with heuristics; activates after ≥3 verdicts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732520" y="4434840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32520" y="4434840"/>
            <a:ext cx="54864" cy="8412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897112" y="4489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guard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8897112" y="47365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TLP 2.0, NOFORN, REL TO before any outbound share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732520" y="5349240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32520" y="5349240"/>
            <a:ext cx="54864" cy="8412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897112" y="5404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Air-gapped transfer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8897112" y="56509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signed .tigpkg packages; tamper detected in constant time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48640" y="5897880"/>
            <a:ext cx="5029200" cy="502920"/>
          </a:xfrm>
          <a:prstGeom prst="roundRect">
            <a:avLst>
              <a:gd name="adj" fmla="val 12727"/>
            </a:avLst>
          </a:prstGeom>
          <a:solidFill>
            <a:srgbClr val="0B1E33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77240" y="5897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263 tests passing</a:t>
            </a: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•   0 failures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TECHNOLOGY INTEGRATION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Bob: the orchestration backbone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3990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Codebase built with Bob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71800" y="1435608"/>
            <a:ext cx="0" cy="493776"/>
          </a:xfrm>
          <a:prstGeom prst="line">
            <a:avLst/>
          </a:prstGeom>
          <a:noFill/>
          <a:ln w="12700">
            <a:solidFill>
              <a:srgbClr val="2A4E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54680" y="139903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Phase 3 capabilities designed, implemented, debugged, and validated in a single Bob agent session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54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decisions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71800" y="2221992"/>
            <a:ext cx="0" cy="493776"/>
          </a:xfrm>
          <a:prstGeom prst="line">
            <a:avLst/>
          </a:prstGeom>
          <a:noFill/>
          <a:ln w="12700">
            <a:solidFill>
              <a:srgbClr val="2A4E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54680" y="218541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the Phase 2 codebase, identified clean extension points, proposed the module structure first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2971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generation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71800" y="3008376"/>
            <a:ext cx="0" cy="493776"/>
          </a:xfrm>
          <a:prstGeom prst="line">
            <a:avLst/>
          </a:prstGeom>
          <a:noFill/>
          <a:ln w="12700">
            <a:solidFill>
              <a:srgbClr val="2A4E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29718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new files, ~3,000 lines of production Python generated and tested within one context window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85032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7581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Test-driven validation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71800" y="3794760"/>
            <a:ext cx="0" cy="493776"/>
          </a:xfrm>
          <a:prstGeom prst="line">
            <a:avLst/>
          </a:prstGeom>
          <a:noFill/>
          <a:ln w="12700">
            <a:solidFill>
              <a:srgbClr val="2A4E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54680" y="375818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48 targeted tests, ran them, diagnosed 7 failures, and patched all of them in one pass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544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71800" y="4581144"/>
            <a:ext cx="0" cy="493776"/>
          </a:xfrm>
          <a:prstGeom prst="line">
            <a:avLst/>
          </a:prstGeom>
          <a:noFill/>
          <a:ln w="12700">
            <a:solidFill>
              <a:srgbClr val="2A4E7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54680" y="45445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the README capability table and wrote the full Phase 3 reference with working code examples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18120" y="132588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13294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0" y="1490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GROWTH</a:t>
            </a:r>
            <a:endParaRPr lang="en-US" sz="10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7955280" y="1783080"/>
          <a:ext cx="356616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7818120" y="3840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81812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7818120" y="4361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829800" y="3840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82980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9829800" y="4361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BOB'S SPECIFIC VALUE</a:t>
            </a:r>
            <a:endParaRPr lang="en-US" sz="1100" dirty="0"/>
          </a:p>
        </p:txBody>
      </p:sp>
      <p:pic>
        <p:nvPicPr>
          <p:cNvPr id="34" name="Image 0" descr="/home/claude/threaticap/icons/check-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596128"/>
            <a:ext cx="182880" cy="18288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41248" y="552297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existing clean architecture without being told</a:t>
            </a:r>
            <a:endParaRPr lang="en-US" sz="1000" dirty="0"/>
          </a:p>
        </p:txBody>
      </p:sp>
      <p:pic>
        <p:nvPicPr>
          <p:cNvPr id="36" name="Image 1" descr="/home/claude/threaticap/icons/check-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5596128"/>
            <a:ext cx="182880" cy="18288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6556248" y="552297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defence domain knowledge (NATO, TLP 2.0, NOFORN, STIX 2.1) without hallucination</a:t>
            </a:r>
            <a:endParaRPr lang="en-US" sz="1000" dirty="0"/>
          </a:p>
        </p:txBody>
      </p:sp>
      <p:pic>
        <p:nvPicPr>
          <p:cNvPr id="38" name="Image 2" descr="/home/claude/threaticap/icons/check-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163056"/>
            <a:ext cx="182880" cy="18288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41248" y="608990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zero breaking changes across 215 pre-existing tests</a:t>
            </a:r>
            <a:endParaRPr lang="en-US" sz="1000" dirty="0"/>
          </a:p>
        </p:txBody>
      </p:sp>
      <p:pic>
        <p:nvPicPr>
          <p:cNvPr id="40" name="Image 3" descr="/home/claude/threaticap/icons/check-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6163056"/>
            <a:ext cx="182880" cy="18288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6556248" y="608990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config.yaml sections that are operationally correct on first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becomes beyond the hackathon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0B1E3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6" name="Image 0" descr="/home/claude/threaticap/icons/zap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556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733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3154680" cy="0"/>
          </a:xfrm>
          <a:prstGeom prst="line">
            <a:avLst/>
          </a:prstGeom>
          <a:noFill/>
          <a:ln w="12700">
            <a:solidFill>
              <a:srgbClr val="2346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569464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87552" y="245973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national SOC as a self-hosted Docker stack (already containerised)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" y="3319272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87552" y="320954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MISP federation and TAXII 2.1 collection from national CTIS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4672" y="4069080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87552" y="39593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existing SIEM (Splunk/QRadar) via streaming Redis ingestion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4672" y="4818888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87552" y="47091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commanders using the WATCH_OFFICER SITREP format on secure messaging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43400" y="141732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0B1E33"/>
          </a:solidFill>
          <a:ln/>
        </p:spPr>
      </p:sp>
      <p:sp>
        <p:nvSpPr>
          <p:cNvPr id="19" name="Shape 16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20" name="Image 1" descr="/home/claude/threaticap/icons/trending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75564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66360" y="16733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1663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Term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572000" y="2331720"/>
            <a:ext cx="3154680" cy="0"/>
          </a:xfrm>
          <a:prstGeom prst="line">
            <a:avLst/>
          </a:prstGeom>
          <a:noFill/>
          <a:ln w="12700">
            <a:solidFill>
              <a:srgbClr val="23467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99432" y="2569464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782312" y="245973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 a classified network using the air-gapped transfer architecture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99432" y="3319272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782312" y="320954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analyst feedback labels into a fine-tuned classification model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99432" y="4069080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782312" y="39593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real-time mission context push from J3/J6 operational systems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599432" y="4818888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782312" y="47091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coalition sharing to Five Eyes via STIX/TAXII with auto-sanitisation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138160" y="141732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0B1E33"/>
          </a:solidFill>
          <a:ln/>
        </p:spPr>
      </p:sp>
      <p:sp>
        <p:nvSpPr>
          <p:cNvPr id="33" name="Shape 29"/>
          <p:cNvSpPr/>
          <p:nvPr/>
        </p:nvSpPr>
        <p:spPr>
          <a:xfrm>
            <a:off x="8366760" y="164592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34" name="Image 2" descr="/home/claude/threaticap/icons/globe-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755648"/>
            <a:ext cx="237744" cy="237744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961120" y="16733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MONTHS+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896112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</a:t>
            </a:r>
            <a:endParaRPr lang="en-US" sz="1700" dirty="0"/>
          </a:p>
        </p:txBody>
      </p:sp>
      <p:sp>
        <p:nvSpPr>
          <p:cNvPr id="37" name="Shape 32"/>
          <p:cNvSpPr/>
          <p:nvPr/>
        </p:nvSpPr>
        <p:spPr>
          <a:xfrm>
            <a:off x="8366760" y="2331720"/>
            <a:ext cx="3154680" cy="0"/>
          </a:xfrm>
          <a:prstGeom prst="line">
            <a:avLst/>
          </a:prstGeom>
          <a:noFill/>
          <a:ln w="12700">
            <a:solidFill>
              <a:srgbClr val="23467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394192" y="2569464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577072" y="245973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threat intelligence hub — aggregate, correlate, redistribute to sector partners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8394192" y="3319272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577072" y="320954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classification handling with a certified cross-domain solution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394192" y="4069080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8577072" y="39593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national-grade FP reduction model on accumulated analyst verdicts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394192" y="4818888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8577072" y="47091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the intelligence layer for autonomous cyber response playbooks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C3A5E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868680" y="56235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is designed for this. </a:t>
            </a:r>
            <a:r>
              <a:rPr lang="en-US" sz="1400" i="1" dirty="0">
                <a:solidFill>
                  <a:srgbClr val="E7EE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component is pluggable, configuration-driven, and auditable. The hard work is already done.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765</Words>
  <Application>Microsoft Office PowerPoint</Application>
  <PresentationFormat>Widescreen</PresentationFormat>
  <Paragraphs>115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D24DCS151 VATSAL SAPOVADIYA</cp:lastModifiedBy>
  <cp:revision>2</cp:revision>
  <dcterms:created xsi:type="dcterms:W3CDTF">2026-09-15T18:08:17Z</dcterms:created>
  <dcterms:modified xsi:type="dcterms:W3CDTF">2026-09-15T18:12:14Z</dcterms:modified>
</cp:coreProperties>
</file>